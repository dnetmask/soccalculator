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2c4e3957-7114-0278-a009-8ced7992c7ed}">
          <p14:sldIdLst>
            <p14:sldId id="256"/>
          </p14:sldIdLst>
        </p14:section>
        <p14:section name="El servicio" id="{2f9f83f0-139e-9476-96fb-1773a0b49357}">
          <p14:sldIdLst>
            <p14:sldId id="257"/>
            <p14:sldId id="258"/>
            <p14:sldId id="259"/>
            <p14:sldId id="260"/>
          </p14:sldIdLst>
        </p14:section>
        <p14:section name="Planes y complementos" id="{5a0548aa-e4a0-0a07-22dc-d220aa704836}">
          <p14:sldIdLst>
            <p14:sldId id="261"/>
            <p14:sldId id="262"/>
          </p14:sldIdLst>
        </p14:section>
        <p14:section name="Operación y equipo" id="{91945d32-e64b-29eb-d1cb-58801847e9e4}">
          <p14:sldIdLst>
            <p14:sldId id="263"/>
            <p14:sldId id="264"/>
            <p14:sldId id="265"/>
          </p14:sldIdLst>
        </p14:section>
        <p14:section name="Cierre" id="{96ae3b79-b372-0645-ae4b-8830b02fa6ce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86868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86200"/>
            <a:ext cx="8686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pic>
        <p:nvPicPr>
          <p:cNvPr id="3" name="Image 0" descr="/home/user/SOCcalculator/web/assets/netmask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6327648"/>
            <a:ext cx="1234440" cy="28346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68680" y="6327648"/>
            <a:ext cx="5486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SOC Netmask sobre FortiSIEM® MSSP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27648"/>
            <a:ext cx="320040" cy="28346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731520"/>
            <a:ext cx="106984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27648"/>
            <a:ext cx="320040" cy="28346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ndo logo"/>
          <p:cNvSpPr/>
          <p:nvPr/>
        </p:nvSpPr>
        <p:spPr>
          <a:xfrm>
            <a:off x="731520" y="685800"/>
            <a:ext cx="265176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" name="Image 0" descr="Logo Netmas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877824"/>
            <a:ext cx="2286000" cy="52578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237744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SOC Netmask</a:t>
            </a:r>
            <a:endParaRPr lang="en-US" sz="5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388620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Monitoreo, detección y respuesta gestionados sobre FortiSIEM® MSSP, para entornos OT e IT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Ficha del servicio · Octubre 2026</a:t>
            </a:r>
            <a:endParaRPr lang="en-US" sz="1400" dirty="0"/>
          </a:p>
        </p:txBody>
      </p:sp>
      <p:sp>
        <p:nvSpPr>
          <p:cNvPr id="7" name="círculo shield"/>
          <p:cNvSpPr/>
          <p:nvPr/>
        </p:nvSpPr>
        <p:spPr>
          <a:xfrm>
            <a:off x="9509760" y="2148840"/>
            <a:ext cx="2011680" cy="2011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mage 1" descr="shiel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65176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Un SOC gestionado para su operación, sin montar uno propio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4937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Netmask vigila sus fuentes de seguridad, separa el ruido de las amenazas reales y responde a los incidentes con un equipo dedicado.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La plataforma FortiSIEM MSSP corre en Azure y se alimenta con la inteligencia de amenazas de FortiGuard. Usted no compra licencias ni infraestructura: paga una mensualidad.</a:t>
            </a:r>
            <a:endParaRPr lang="en-US" sz="1800" dirty="0"/>
          </a:p>
        </p:txBody>
      </p:sp>
      <p:sp>
        <p:nvSpPr>
          <p:cNvPr id="4" name="dato 12 meses"/>
          <p:cNvSpPr/>
          <p:nvPr/>
        </p:nvSpPr>
        <p:spPr>
          <a:xfrm>
            <a:off x="6035040" y="1508760"/>
            <a:ext cx="269748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309360" y="1737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meses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2468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 retención de eventos incluida: 1 en línea y 11 archivados</a:t>
            </a:r>
            <a:endParaRPr lang="en-US" sz="1400" dirty="0"/>
          </a:p>
        </p:txBody>
      </p:sp>
      <p:sp>
        <p:nvSpPr>
          <p:cNvPr id="7" name="dato 8x5"/>
          <p:cNvSpPr/>
          <p:nvPr/>
        </p:nvSpPr>
        <p:spPr>
          <a:xfrm>
            <a:off x="8915400" y="1508760"/>
            <a:ext cx="269748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89720" y="1737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8x5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9189720" y="2468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horario extendido, con disponibilidad fuera de horario</a:t>
            </a:r>
            <a:endParaRPr lang="en-US" sz="1400" dirty="0"/>
          </a:p>
        </p:txBody>
      </p:sp>
      <p:sp>
        <p:nvSpPr>
          <p:cNvPr id="10" name="dato 2 servicios"/>
          <p:cNvSpPr/>
          <p:nvPr/>
        </p:nvSpPr>
        <p:spPr>
          <a:xfrm>
            <a:off x="6035040" y="3657600"/>
            <a:ext cx="269748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3886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servicios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4617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incidentes y vulnerabilidades, juntos o por separado</a:t>
            </a:r>
            <a:endParaRPr lang="en-US" sz="1400" dirty="0"/>
          </a:p>
        </p:txBody>
      </p:sp>
      <p:sp>
        <p:nvSpPr>
          <p:cNvPr id="13" name="dato OT e IT"/>
          <p:cNvSpPr/>
          <p:nvPr/>
        </p:nvSpPr>
        <p:spPr>
          <a:xfrm>
            <a:off x="8915400" y="3657600"/>
            <a:ext cx="269748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89720" y="3886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e IT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4617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el mismo equipo, enfocado en su tipo de entorno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27648"/>
            <a:ext cx="320040" cy="28346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SOC de gestión de incidentes: vigilancia y respuesta continuas</a:t>
            </a:r>
            <a:endParaRPr lang="en-US" sz="3200" dirty="0"/>
          </a:p>
        </p:txBody>
      </p:sp>
      <p:sp>
        <p:nvSpPr>
          <p:cNvPr id="3" name="círculo eye"/>
          <p:cNvSpPr/>
          <p:nvPr/>
        </p:nvSpPr>
        <p:spPr>
          <a:xfrm>
            <a:off x="548640" y="14630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mage 0" descr="ey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1604772"/>
            <a:ext cx="283464" cy="2834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44475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Monitoreo de eventos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77393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IPS/IDS, EDR, servidores, aplicaciones y equipos OT</a:t>
            </a:r>
            <a:endParaRPr lang="en-US" sz="1400" dirty="0"/>
          </a:p>
        </p:txBody>
      </p:sp>
      <p:sp>
        <p:nvSpPr>
          <p:cNvPr id="7" name="círculo filter"/>
          <p:cNvSpPr/>
          <p:nvPr/>
        </p:nvSpPr>
        <p:spPr>
          <a:xfrm>
            <a:off x="548640" y="23774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mage 1" descr="fil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2519172"/>
            <a:ext cx="283464" cy="28346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235915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Depuración y respuesta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268833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 descartan falsos positivos y se responde a los incidentes</a:t>
            </a:r>
            <a:endParaRPr lang="en-US" sz="1400" dirty="0"/>
          </a:p>
        </p:txBody>
      </p:sp>
      <p:sp>
        <p:nvSpPr>
          <p:cNvPr id="11" name="círculo cloud"/>
          <p:cNvSpPr/>
          <p:nvPr/>
        </p:nvSpPr>
        <p:spPr>
          <a:xfrm>
            <a:off x="548640" y="32918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mage 2" descr="clou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3433572"/>
            <a:ext cx="283464" cy="28346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327355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FortiSIEM MSSP en Azure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60273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 indicadores de compromiso (IOC) de FortiGuard</a:t>
            </a:r>
            <a:endParaRPr lang="en-US" sz="1400" dirty="0"/>
          </a:p>
        </p:txBody>
      </p:sp>
      <p:sp>
        <p:nvSpPr>
          <p:cNvPr id="15" name="círculo db"/>
          <p:cNvSpPr/>
          <p:nvPr/>
        </p:nvSpPr>
        <p:spPr>
          <a:xfrm>
            <a:off x="548640" y="42062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mage 3" descr="db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4347972"/>
            <a:ext cx="283464" cy="28346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418795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CMDB de activos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51713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Inventario de activos y monitoreo de disponibilidad</a:t>
            </a:r>
            <a:endParaRPr lang="en-US" sz="1400" dirty="0"/>
          </a:p>
        </p:txBody>
      </p:sp>
      <p:sp>
        <p:nvSpPr>
          <p:cNvPr id="19" name="círculo user"/>
          <p:cNvSpPr/>
          <p:nvPr/>
        </p:nvSpPr>
        <p:spPr>
          <a:xfrm>
            <a:off x="548640" y="51206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Image 4" descr="us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" y="5262372"/>
            <a:ext cx="283464" cy="28346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10235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UEBA opcional</a:t>
            </a:r>
            <a:endParaRPr lang="en-US" sz="180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43153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Analítica del comportamiento de usuarios y entidades</a:t>
            </a:r>
            <a:endParaRPr lang="en-US" sz="1400" dirty="0"/>
          </a:p>
        </p:txBody>
      </p:sp>
      <p:sp>
        <p:nvSpPr>
          <p:cNvPr id="23" name="retención"/>
          <p:cNvSpPr/>
          <p:nvPr/>
        </p:nvSpPr>
        <p:spPr>
          <a:xfrm>
            <a:off x="6949440" y="1463040"/>
            <a:ext cx="4690872" cy="4251960"/>
          </a:xfrm>
          <a:prstGeom prst="roundRect">
            <a:avLst>
              <a:gd name="adj" fmla="val 258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7315200" y="1783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Retención incluida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7315200" y="21945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12 meses de eventos</a:t>
            </a:r>
            <a:endParaRPr lang="en-US" sz="3000" dirty="0"/>
          </a:p>
        </p:txBody>
      </p:sp>
      <p:sp>
        <p:nvSpPr>
          <p:cNvPr id="26" name="mes 1"/>
          <p:cNvSpPr/>
          <p:nvPr/>
        </p:nvSpPr>
        <p:spPr>
          <a:xfrm>
            <a:off x="7315200" y="3154680"/>
            <a:ext cx="283464" cy="502920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mes 2"/>
          <p:cNvSpPr/>
          <p:nvPr/>
        </p:nvSpPr>
        <p:spPr>
          <a:xfrm>
            <a:off x="7653528" y="3154680"/>
            <a:ext cx="283464" cy="502920"/>
          </a:xfrm>
          <a:prstGeom prst="roundRect">
            <a:avLst>
              <a:gd name="adj" fmla="val 1612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8" name="mes 3"/>
          <p:cNvSpPr/>
          <p:nvPr/>
        </p:nvSpPr>
        <p:spPr>
          <a:xfrm>
            <a:off x="7991856" y="3154680"/>
            <a:ext cx="283464" cy="502920"/>
          </a:xfrm>
          <a:prstGeom prst="roundRect">
            <a:avLst>
              <a:gd name="adj" fmla="val 1612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9" name="mes 4"/>
          <p:cNvSpPr/>
          <p:nvPr/>
        </p:nvSpPr>
        <p:spPr>
          <a:xfrm>
            <a:off x="8330184" y="3154680"/>
            <a:ext cx="283464" cy="502920"/>
          </a:xfrm>
          <a:prstGeom prst="roundRect">
            <a:avLst>
              <a:gd name="adj" fmla="val 1612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mes 5"/>
          <p:cNvSpPr/>
          <p:nvPr/>
        </p:nvSpPr>
        <p:spPr>
          <a:xfrm>
            <a:off x="8668512" y="3154680"/>
            <a:ext cx="283464" cy="502920"/>
          </a:xfrm>
          <a:prstGeom prst="roundRect">
            <a:avLst>
              <a:gd name="adj" fmla="val 1612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1" name="mes 6"/>
          <p:cNvSpPr/>
          <p:nvPr/>
        </p:nvSpPr>
        <p:spPr>
          <a:xfrm>
            <a:off x="9006840" y="3154680"/>
            <a:ext cx="283464" cy="502920"/>
          </a:xfrm>
          <a:prstGeom prst="roundRect">
            <a:avLst>
              <a:gd name="adj" fmla="val 1612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2" name="mes 7"/>
          <p:cNvSpPr/>
          <p:nvPr/>
        </p:nvSpPr>
        <p:spPr>
          <a:xfrm>
            <a:off x="9345168" y="3154680"/>
            <a:ext cx="283464" cy="502920"/>
          </a:xfrm>
          <a:prstGeom prst="roundRect">
            <a:avLst>
              <a:gd name="adj" fmla="val 1612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3" name="mes 8"/>
          <p:cNvSpPr/>
          <p:nvPr/>
        </p:nvSpPr>
        <p:spPr>
          <a:xfrm>
            <a:off x="9683496" y="3154680"/>
            <a:ext cx="283464" cy="502920"/>
          </a:xfrm>
          <a:prstGeom prst="roundRect">
            <a:avLst>
              <a:gd name="adj" fmla="val 1612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4" name="mes 9"/>
          <p:cNvSpPr/>
          <p:nvPr/>
        </p:nvSpPr>
        <p:spPr>
          <a:xfrm>
            <a:off x="10021824" y="3154680"/>
            <a:ext cx="283464" cy="502920"/>
          </a:xfrm>
          <a:prstGeom prst="roundRect">
            <a:avLst>
              <a:gd name="adj" fmla="val 1612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5" name="mes 10"/>
          <p:cNvSpPr/>
          <p:nvPr/>
        </p:nvSpPr>
        <p:spPr>
          <a:xfrm>
            <a:off x="10360152" y="3154680"/>
            <a:ext cx="283464" cy="502920"/>
          </a:xfrm>
          <a:prstGeom prst="roundRect">
            <a:avLst>
              <a:gd name="adj" fmla="val 1612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6" name="mes 11"/>
          <p:cNvSpPr/>
          <p:nvPr/>
        </p:nvSpPr>
        <p:spPr>
          <a:xfrm>
            <a:off x="10698480" y="3154680"/>
            <a:ext cx="283464" cy="502920"/>
          </a:xfrm>
          <a:prstGeom prst="roundRect">
            <a:avLst>
              <a:gd name="adj" fmla="val 1612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7" name="mes 12"/>
          <p:cNvSpPr/>
          <p:nvPr/>
        </p:nvSpPr>
        <p:spPr>
          <a:xfrm>
            <a:off x="11036808" y="3154680"/>
            <a:ext cx="283464" cy="502920"/>
          </a:xfrm>
          <a:prstGeom prst="roundRect">
            <a:avLst>
              <a:gd name="adj" fmla="val 1612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7315200" y="39319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 mes en línea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búsqueda inmediata</a:t>
            </a:r>
            <a:endParaRPr lang="en-US" sz="1400" dirty="0"/>
          </a:p>
        </p:txBody>
      </p:sp>
      <p:sp>
        <p:nvSpPr>
          <p:cNvPr id="39" name="Text 32"/>
          <p:cNvSpPr txBox="1"/>
          <p:nvPr/>
        </p:nvSpPr>
        <p:spPr>
          <a:xfrm>
            <a:off x="9326880" y="3931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11 meses archivados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recuperables cuando se necesiten</a:t>
            </a:r>
            <a:endParaRPr lang="en-US" sz="1400" dirty="0"/>
          </a:p>
        </p:txBody>
      </p:sp>
      <p:sp>
        <p:nvSpPr>
          <p:cNvPr id="40" name="Text 33"/>
          <p:cNvSpPr txBox="1"/>
          <p:nvPr/>
        </p:nvSpPr>
        <p:spPr>
          <a:xfrm>
            <a:off x="7315200" y="49834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Para auditorías, investigaciones y cumplimiento.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27648"/>
            <a:ext cx="320040" cy="28346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Vulnerabilidades: del inventario al parche, sede por sede</a:t>
            </a:r>
            <a:endParaRPr lang="en-US" sz="3200" dirty="0"/>
          </a:p>
        </p:txBody>
      </p:sp>
      <p:sp>
        <p:nvSpPr>
          <p:cNvPr id="3" name="paso 1"/>
          <p:cNvSpPr/>
          <p:nvPr/>
        </p:nvSpPr>
        <p:spPr>
          <a:xfrm>
            <a:off x="548640" y="1463040"/>
            <a:ext cx="2606040" cy="27432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írculo list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li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8973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60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1. Inventario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0175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Activos de cada sede: en OT, PLC, HMI y estaciones; en IT, servidores, estaciones y red</a:t>
            </a:r>
            <a:endParaRPr lang="en-US" sz="1400" dirty="0"/>
          </a:p>
        </p:txBody>
      </p:sp>
      <p:sp>
        <p:nvSpPr>
          <p:cNvPr id="8" name="flecha 1"/>
          <p:cNvSpPr/>
          <p:nvPr/>
        </p:nvSpPr>
        <p:spPr>
          <a:xfrm>
            <a:off x="3200400" y="2697480"/>
            <a:ext cx="146304" cy="27432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paso 2"/>
          <p:cNvSpPr/>
          <p:nvPr/>
        </p:nvSpPr>
        <p:spPr>
          <a:xfrm>
            <a:off x="3383280" y="1463040"/>
            <a:ext cx="2606040" cy="27432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írculo search"/>
          <p:cNvSpPr/>
          <p:nvPr/>
        </p:nvSpPr>
        <p:spPr>
          <a:xfrm>
            <a:off x="3657600" y="17373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620" y="18973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57600" y="2560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2. Priorización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657600" y="30175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Identificación de vulnerabilidades y prioridad por CVE</a:t>
            </a:r>
            <a:endParaRPr lang="en-US" sz="1400" dirty="0"/>
          </a:p>
        </p:txBody>
      </p:sp>
      <p:sp>
        <p:nvSpPr>
          <p:cNvPr id="14" name="flecha 2"/>
          <p:cNvSpPr/>
          <p:nvPr/>
        </p:nvSpPr>
        <p:spPr>
          <a:xfrm>
            <a:off x="6035040" y="2697480"/>
            <a:ext cx="146304" cy="27432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paso 3"/>
          <p:cNvSpPr/>
          <p:nvPr/>
        </p:nvSpPr>
        <p:spPr>
          <a:xfrm>
            <a:off x="6217920" y="1463040"/>
            <a:ext cx="2606040" cy="27432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círculo shield"/>
          <p:cNvSpPr/>
          <p:nvPr/>
        </p:nvSpPr>
        <p:spPr>
          <a:xfrm>
            <a:off x="6492240" y="17373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mage 2" descr="shiel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260" y="189738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92240" y="2560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3. Virtual patching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492240" y="30175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Protección mientras llega el parche definitivo</a:t>
            </a:r>
            <a:endParaRPr lang="en-US" sz="1400" dirty="0"/>
          </a:p>
        </p:txBody>
      </p:sp>
      <p:sp>
        <p:nvSpPr>
          <p:cNvPr id="20" name="flecha 3"/>
          <p:cNvSpPr/>
          <p:nvPr/>
        </p:nvSpPr>
        <p:spPr>
          <a:xfrm>
            <a:off x="8869680" y="2697480"/>
            <a:ext cx="146304" cy="27432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paso 4"/>
          <p:cNvSpPr/>
          <p:nvPr/>
        </p:nvSpPr>
        <p:spPr>
          <a:xfrm>
            <a:off x="9052560" y="1463040"/>
            <a:ext cx="2606040" cy="27432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círculo report"/>
          <p:cNvSpPr/>
          <p:nvPr/>
        </p:nvSpPr>
        <p:spPr>
          <a:xfrm>
            <a:off x="9326880" y="17373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Image 3" descr="repor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0" y="189738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326880" y="2560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4. Parches y reporte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9326880" y="30175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Ciclo de gestión de parches y reporte mensual</a:t>
            </a:r>
            <a:endParaRPr lang="en-US" sz="1400" dirty="0"/>
          </a:p>
        </p:txBody>
      </p:sp>
      <p:sp>
        <p:nvSpPr>
          <p:cNvPr id="26" name="notas vulnerabilidades"/>
          <p:cNvSpPr/>
          <p:nvPr/>
        </p:nvSpPr>
        <p:spPr>
          <a:xfrm>
            <a:off x="548640" y="4480560"/>
            <a:ext cx="11091672" cy="1417320"/>
          </a:xfrm>
          <a:prstGeom prst="roundRect">
            <a:avLst>
              <a:gd name="adj" fmla="val 774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822960" y="4663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 contrata solo o junto con el SOC de incidentes, y se cobra por sede.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En OT sigue el ciclo de parches de ISA/IEC 62443-2-3. La licencia de la herramienta la aporta el cliente: en OT, la sonda (Fortinet, Nozomi, Claroty, TXOne…); en IT, la consola de vulnerabilidades (Tenable, Qualys, Rapid7, FortiClient EMS…).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27648"/>
            <a:ext cx="320040" cy="28346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SOC OT o SOC IT: el mismo equipo, enfocado en su entorno</a:t>
            </a:r>
            <a:endParaRPr lang="en-US" sz="3200" dirty="0"/>
          </a:p>
        </p:txBody>
      </p:sp>
      <p:sp>
        <p:nvSpPr>
          <p:cNvPr id="3" name="columna OT"/>
          <p:cNvSpPr/>
          <p:nvPr/>
        </p:nvSpPr>
        <p:spPr>
          <a:xfrm>
            <a:off x="3794760" y="1417320"/>
            <a:ext cx="3794760" cy="4526280"/>
          </a:xfrm>
          <a:prstGeom prst="roundRect">
            <a:avLst>
              <a:gd name="adj" fmla="val 28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olumna IT"/>
          <p:cNvSpPr/>
          <p:nvPr/>
        </p:nvSpPr>
        <p:spPr>
          <a:xfrm>
            <a:off x="7818120" y="1417320"/>
            <a:ext cx="3794760" cy="4526280"/>
          </a:xfrm>
          <a:prstGeom prst="roundRect">
            <a:avLst>
              <a:gd name="adj" fmla="val 28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Image 0" descr="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1627632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0" y="16276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SOC OT</a:t>
            </a:r>
            <a:endParaRPr lang="en-US" sz="2000" dirty="0"/>
          </a:p>
        </p:txBody>
      </p:sp>
      <p:pic>
        <p:nvPicPr>
          <p:cNvPr id="7" name="Image 1" descr="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627632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595360" y="16276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SOC IT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2860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Fuentes monitoreadas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4069080" y="22860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IPS/IDS, EDR, servidores y equipos OT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8092440" y="22860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IPS/IDS, EDR, servidores y aplicaciones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299923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Inventario de vulnerabilidades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069080" y="299923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PLC, HMI y estaciones de planta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8092440" y="299923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Servidores, estaciones y red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3712464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Colector on-prem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069080" y="371246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NUC industrial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8092440" y="371246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NUC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4425696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Licencia que aporta el cliente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4069080" y="442569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Sonda OT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8092440" y="442569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Consola de vulnerabilidades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51389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Ciclo de parches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4069080" y="513892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ISA/IEC 62443-2-3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8092440" y="513892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Gestión de parches y reporte mensual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27648"/>
            <a:ext cx="320040" cy="28346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Planes a la medida del tamaño de su operación</a:t>
            </a:r>
            <a:endParaRPr lang="en-US" sz="3200" dirty="0"/>
          </a:p>
        </p:txBody>
      </p:sp>
      <p:sp>
        <p:nvSpPr>
          <p:cNvPr id="3" name="plan SOC Estándar"/>
          <p:cNvSpPr/>
          <p:nvPr/>
        </p:nvSpPr>
        <p:spPr>
          <a:xfrm>
            <a:off x="548640" y="1417320"/>
            <a:ext cx="3538728" cy="4251960"/>
          </a:xfrm>
          <a:prstGeom prst="roundRect">
            <a:avLst>
              <a:gd name="adj" fmla="val 310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írculo layers"/>
          <p:cNvSpPr/>
          <p:nvPr/>
        </p:nvSpPr>
        <p:spPr>
          <a:xfrm>
            <a:off x="868680" y="169164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lay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1833372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423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SOC Estándar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880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COP 10.675.000</a:t>
            </a:r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 /mes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61188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10 dispositivos/consolas fuente incluidos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Retención de 12 meses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Fuentes adicionales por tipo</a:t>
            </a:r>
            <a:endParaRPr lang="en-US" sz="1400" dirty="0"/>
          </a:p>
        </p:txBody>
      </p:sp>
      <p:sp>
        <p:nvSpPr>
          <p:cNvPr id="9" name="plan SOC Esencial"/>
          <p:cNvSpPr/>
          <p:nvPr/>
        </p:nvSpPr>
        <p:spPr>
          <a:xfrm>
            <a:off x="4325112" y="1417320"/>
            <a:ext cx="3538728" cy="4251960"/>
          </a:xfrm>
          <a:prstGeom prst="roundRect">
            <a:avLst>
              <a:gd name="adj" fmla="val 310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írculo chip"/>
          <p:cNvSpPr/>
          <p:nvPr/>
        </p:nvSpPr>
        <p:spPr>
          <a:xfrm>
            <a:off x="4645152" y="16916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chi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884" y="183337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45152" y="2423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SOC Esencial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45152" y="2880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COP 3.675.000</a:t>
            </a:r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 /mes</a:t>
            </a:r>
            <a:endParaRPr lang="en-US" sz="2600" dirty="0"/>
          </a:p>
        </p:txBody>
      </p:sp>
      <p:sp>
        <p:nvSpPr>
          <p:cNvPr id="14" name="Text 10"/>
          <p:cNvSpPr txBox="1"/>
          <p:nvPr/>
        </p:nvSpPr>
        <p:spPr>
          <a:xfrm>
            <a:off x="4645152" y="361188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Hasta 3 dispositivos/consolas fuente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Retención de 12 meses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Para operaciones pequeñas; con más de 3 fuentes, plan Estándar</a:t>
            </a:r>
            <a:endParaRPr lang="en-US" sz="1400" dirty="0"/>
          </a:p>
        </p:txBody>
      </p:sp>
      <p:sp>
        <p:nvSpPr>
          <p:cNvPr id="15" name="plan Vulnerabilidades"/>
          <p:cNvSpPr/>
          <p:nvPr/>
        </p:nvSpPr>
        <p:spPr>
          <a:xfrm>
            <a:off x="8101584" y="1417320"/>
            <a:ext cx="3538728" cy="4251960"/>
          </a:xfrm>
          <a:prstGeom prst="roundRect">
            <a:avLst>
              <a:gd name="adj" fmla="val 310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círculo search"/>
          <p:cNvSpPr/>
          <p:nvPr/>
        </p:nvSpPr>
        <p:spPr>
          <a:xfrm>
            <a:off x="8421624" y="16916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mage 2" descr="sear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3356" y="1833372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21624" y="2423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Vulnerabilidades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8421624" y="2880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COP 1.960.000</a:t>
            </a:r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 /sede/mes</a:t>
            </a:r>
            <a:endParaRPr lang="en-US" sz="2600" dirty="0"/>
          </a:p>
        </p:txBody>
      </p:sp>
      <p:sp>
        <p:nvSpPr>
          <p:cNvPr id="20" name="Text 15"/>
          <p:cNvSpPr txBox="1"/>
          <p:nvPr/>
        </p:nvSpPr>
        <p:spPr>
          <a:xfrm>
            <a:off x="8421624" y="361188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Desde la sede 11: COP 980.000 (50 % de descuento)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Solo o junto con el SOC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Sin licencias FortiSIEM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Valores mensuales en COP, excluidos de IVA por ser servicio de computación en la nube. Precios de referencia: la propuesta final se ajusta a cada cliente.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27648"/>
            <a:ext cx="320040" cy="28346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Complementos: pague solo por lo que agrega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58368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1645920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Fuente o complemento adicional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COP/mes c/u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Firewall entry level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280.000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Firewall mid range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440.000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Firewall high-end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560.000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Servidor (Windows / Linux / AIX)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260.000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Switch core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170.000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Switch de distribución / acceso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100.000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Otra consola fuente (EDR, gestión, OT o vulnerabilidades)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182.000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Agente avanzado FortiSIEM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35.000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UEBA por agente avanzado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38.500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589520" y="1417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Colectores: se combinan según cada sede</a:t>
            </a:r>
            <a:endParaRPr lang="en-US" sz="1800" dirty="0"/>
          </a:p>
        </p:txBody>
      </p:sp>
      <p:sp>
        <p:nvSpPr>
          <p:cNvPr id="5" name="colector VM o servidor del cliente"/>
          <p:cNvSpPr/>
          <p:nvPr/>
        </p:nvSpPr>
        <p:spPr>
          <a:xfrm>
            <a:off x="7589520" y="1965960"/>
            <a:ext cx="4050792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círculo server"/>
          <p:cNvSpPr/>
          <p:nvPr/>
        </p:nvSpPr>
        <p:spPr>
          <a:xfrm>
            <a:off x="7772400" y="221284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mage 0" descr="serv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23500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503920" y="2148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VM o servidor del cliente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8503920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Sin costo</a:t>
            </a:r>
            <a:endParaRPr lang="en-US" sz="1400" dirty="0"/>
          </a:p>
        </p:txBody>
      </p:sp>
      <p:sp>
        <p:nvSpPr>
          <p:cNvPr id="10" name="colector NUC on-prem (industrial en OT)"/>
          <p:cNvSpPr/>
          <p:nvPr/>
        </p:nvSpPr>
        <p:spPr>
          <a:xfrm>
            <a:off x="7589520" y="3200400"/>
            <a:ext cx="4050792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írculo chip"/>
          <p:cNvSpPr/>
          <p:nvPr/>
        </p:nvSpPr>
        <p:spPr>
          <a:xfrm>
            <a:off x="7772400" y="344728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mage 1" descr="chi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358444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503920" y="3383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NUC on-prem (industrial en OT)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8503920" y="3749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COP 875.000/mes durante 12 meses</a:t>
            </a:r>
            <a:endParaRPr lang="en-US" sz="1400" dirty="0"/>
          </a:p>
        </p:txBody>
      </p:sp>
      <p:sp>
        <p:nvSpPr>
          <p:cNvPr id="15" name="colector Colector en Azure"/>
          <p:cNvSpPr/>
          <p:nvPr/>
        </p:nvSpPr>
        <p:spPr>
          <a:xfrm>
            <a:off x="7589520" y="4434840"/>
            <a:ext cx="4050792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círculo cloud"/>
          <p:cNvSpPr/>
          <p:nvPr/>
        </p:nvSpPr>
        <p:spPr>
          <a:xfrm>
            <a:off x="7772400" y="468172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mage 2" descr="clou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4818888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503920" y="4617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Colector en Azure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8503920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COP 700.000/mes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7589520" y="5623560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El colector recolecta, normaliza y cifra los eventos de cada sede antes de enviarlos a FortiSIEM.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27648"/>
            <a:ext cx="320040" cy="28346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Cómo funciona: de su red al analista, y de vuelta a usted</a:t>
            </a:r>
            <a:endParaRPr lang="en-US" sz="3200" dirty="0"/>
          </a:p>
        </p:txBody>
      </p:sp>
      <p:sp>
        <p:nvSpPr>
          <p:cNvPr id="3" name="círculo net"/>
          <p:cNvSpPr/>
          <p:nvPr/>
        </p:nvSpPr>
        <p:spPr>
          <a:xfrm>
            <a:off x="1097280" y="1828800"/>
            <a:ext cx="960120" cy="9601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mage 0" descr="n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7310" y="2068830"/>
            <a:ext cx="480060" cy="480060"/>
          </a:xfrm>
          <a:prstGeom prst="rect">
            <a:avLst/>
          </a:prstGeom>
        </p:spPr>
      </p:pic>
      <p:sp>
        <p:nvSpPr>
          <p:cNvPr id="5" name="conexión 1"/>
          <p:cNvSpPr/>
          <p:nvPr/>
        </p:nvSpPr>
        <p:spPr>
          <a:xfrm>
            <a:off x="2194560" y="2308860"/>
            <a:ext cx="10515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6" name="Text 3"/>
          <p:cNvSpPr txBox="1"/>
          <p:nvPr/>
        </p:nvSpPr>
        <p:spPr>
          <a:xfrm>
            <a:off x="548640" y="30175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Sus fuentes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347472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Firewalls, switches, servidores, EDR y equipos OT</a:t>
            </a:r>
            <a:endParaRPr lang="en-US" sz="1400" dirty="0"/>
          </a:p>
        </p:txBody>
      </p:sp>
      <p:sp>
        <p:nvSpPr>
          <p:cNvPr id="8" name="círculo plug"/>
          <p:cNvSpPr/>
          <p:nvPr/>
        </p:nvSpPr>
        <p:spPr>
          <a:xfrm>
            <a:off x="3383280" y="1828800"/>
            <a:ext cx="960120" cy="9601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1" descr="plu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310" y="2068830"/>
            <a:ext cx="480060" cy="480060"/>
          </a:xfrm>
          <a:prstGeom prst="rect">
            <a:avLst/>
          </a:prstGeom>
        </p:spPr>
      </p:pic>
      <p:sp>
        <p:nvSpPr>
          <p:cNvPr id="10" name="conexión 2"/>
          <p:cNvSpPr/>
          <p:nvPr/>
        </p:nvSpPr>
        <p:spPr>
          <a:xfrm>
            <a:off x="4480560" y="2308860"/>
            <a:ext cx="10515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Text 7"/>
          <p:cNvSpPr txBox="1"/>
          <p:nvPr/>
        </p:nvSpPr>
        <p:spPr>
          <a:xfrm>
            <a:off x="2834640" y="30175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Colector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2880360" y="347472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VM del cliente, NUC o Azure: recolecta y cifra</a:t>
            </a:r>
            <a:endParaRPr lang="en-US" sz="1400" dirty="0"/>
          </a:p>
        </p:txBody>
      </p:sp>
      <p:sp>
        <p:nvSpPr>
          <p:cNvPr id="13" name="círculo cloud"/>
          <p:cNvSpPr/>
          <p:nvPr/>
        </p:nvSpPr>
        <p:spPr>
          <a:xfrm>
            <a:off x="5669280" y="1828800"/>
            <a:ext cx="960120" cy="9601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mage 2" descr="clou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9310" y="2068830"/>
            <a:ext cx="480060" cy="480060"/>
          </a:xfrm>
          <a:prstGeom prst="rect">
            <a:avLst/>
          </a:prstGeom>
        </p:spPr>
      </p:pic>
      <p:sp>
        <p:nvSpPr>
          <p:cNvPr id="15" name="conexión 3"/>
          <p:cNvSpPr/>
          <p:nvPr/>
        </p:nvSpPr>
        <p:spPr>
          <a:xfrm>
            <a:off x="6766560" y="2308860"/>
            <a:ext cx="10515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Text 11"/>
          <p:cNvSpPr txBox="1"/>
          <p:nvPr/>
        </p:nvSpPr>
        <p:spPr>
          <a:xfrm>
            <a:off x="5120640" y="30175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FortiSIEM MSSP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5166360" y="347472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En Azure, con IOC de FortiGuard y 12 meses de retención</a:t>
            </a:r>
            <a:endParaRPr lang="en-US" sz="1400" dirty="0"/>
          </a:p>
        </p:txBody>
      </p:sp>
      <p:sp>
        <p:nvSpPr>
          <p:cNvPr id="18" name="círculo users"/>
          <p:cNvSpPr/>
          <p:nvPr/>
        </p:nvSpPr>
        <p:spPr>
          <a:xfrm>
            <a:off x="7955280" y="1828800"/>
            <a:ext cx="960120" cy="9601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mage 3" descr="us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5310" y="2068830"/>
            <a:ext cx="480060" cy="480060"/>
          </a:xfrm>
          <a:prstGeom prst="rect">
            <a:avLst/>
          </a:prstGeom>
        </p:spPr>
      </p:pic>
      <p:sp>
        <p:nvSpPr>
          <p:cNvPr id="20" name="conexión 4"/>
          <p:cNvSpPr/>
          <p:nvPr/>
        </p:nvSpPr>
        <p:spPr>
          <a:xfrm>
            <a:off x="9052560" y="2308860"/>
            <a:ext cx="10515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1" name="Text 15"/>
          <p:cNvSpPr txBox="1"/>
          <p:nvPr/>
        </p:nvSpPr>
        <p:spPr>
          <a:xfrm>
            <a:off x="7406640" y="30175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SOC Netmask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452360" y="347472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Analistas y Blue Team analizan, depuran y responden</a:t>
            </a:r>
            <a:endParaRPr lang="en-US" sz="1400" dirty="0"/>
          </a:p>
        </p:txBody>
      </p:sp>
      <p:sp>
        <p:nvSpPr>
          <p:cNvPr id="23" name="círculo bell"/>
          <p:cNvSpPr/>
          <p:nvPr/>
        </p:nvSpPr>
        <p:spPr>
          <a:xfrm>
            <a:off x="10241280" y="1828800"/>
            <a:ext cx="960120" cy="9601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Image 4" descr="bel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1310" y="2068830"/>
            <a:ext cx="480060" cy="48006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9692640" y="30175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Usted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9738360" y="347472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Alertas, gestión de incidentes y reportes</a:t>
            </a:r>
            <a:endParaRPr lang="en-US" sz="1400" dirty="0"/>
          </a:p>
        </p:txBody>
      </p:sp>
      <p:sp>
        <p:nvSpPr>
          <p:cNvPr id="27" name="nota operación"/>
          <p:cNvSpPr/>
          <p:nvPr/>
        </p:nvSpPr>
        <p:spPr>
          <a:xfrm>
            <a:off x="548640" y="4846320"/>
            <a:ext cx="11091672" cy="1005840"/>
          </a:xfrm>
          <a:prstGeom prst="roundRect">
            <a:avLst>
              <a:gd name="adj" fmla="val 1090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822960" y="50292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Los eventos viajan cifrados desde el colector, y cada cliente opera como una organización separada dentro de FortiSIEM MSSP.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27648"/>
            <a:ext cx="320040" cy="28346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Un equipo con nombre propio</a:t>
            </a:r>
            <a:endParaRPr lang="en-US" sz="3200" dirty="0"/>
          </a:p>
        </p:txBody>
      </p:sp>
      <p:sp>
        <p:nvSpPr>
          <p:cNvPr id="3" name="cargo Líder de operaciones SOC"/>
          <p:cNvSpPr/>
          <p:nvPr/>
        </p:nvSpPr>
        <p:spPr>
          <a:xfrm>
            <a:off x="4270248" y="1325880"/>
            <a:ext cx="3657600" cy="1051560"/>
          </a:xfrm>
          <a:prstGeom prst="roundRect">
            <a:avLst>
              <a:gd name="adj" fmla="val 1043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453128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Líder de operaciones SOC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453128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Sebastian Castrillon</a:t>
            </a:r>
            <a:endParaRPr lang="en-US" sz="1800" dirty="0"/>
          </a:p>
        </p:txBody>
      </p:sp>
      <p:sp>
        <p:nvSpPr>
          <p:cNvPr id="6" name="línea líder"/>
          <p:cNvSpPr/>
          <p:nvPr/>
        </p:nvSpPr>
        <p:spPr>
          <a:xfrm>
            <a:off x="6099048" y="2377440"/>
            <a:ext cx="0" cy="36576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7" name="línea horizontal"/>
          <p:cNvSpPr/>
          <p:nvPr/>
        </p:nvSpPr>
        <p:spPr>
          <a:xfrm>
            <a:off x="2743200" y="2743200"/>
            <a:ext cx="6702552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8" name="línea izquierda"/>
          <p:cNvSpPr/>
          <p:nvPr/>
        </p:nvSpPr>
        <p:spPr>
          <a:xfrm>
            <a:off x="2743200" y="2743200"/>
            <a:ext cx="0" cy="32004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9" name="línea derecha"/>
          <p:cNvSpPr/>
          <p:nvPr/>
        </p:nvSpPr>
        <p:spPr>
          <a:xfrm>
            <a:off x="9445752" y="2743200"/>
            <a:ext cx="0" cy="32004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0" name="cargo Líder técnico SIEM"/>
          <p:cNvSpPr/>
          <p:nvPr/>
        </p:nvSpPr>
        <p:spPr>
          <a:xfrm>
            <a:off x="914400" y="3063240"/>
            <a:ext cx="365760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3200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Líder técnico SIEM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5661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Juan Sebastian Velez</a:t>
            </a:r>
            <a:endParaRPr lang="en-US" sz="1800" dirty="0"/>
          </a:p>
        </p:txBody>
      </p:sp>
      <p:sp>
        <p:nvSpPr>
          <p:cNvPr id="13" name="cargo Analista SOC N1 y de vulnerabilidades"/>
          <p:cNvSpPr/>
          <p:nvPr/>
        </p:nvSpPr>
        <p:spPr>
          <a:xfrm>
            <a:off x="7616952" y="3063240"/>
            <a:ext cx="365760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99832" y="3200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Analista SOC N1 y de vulnerabilidades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99832" y="35661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Santiago Ramirez</a:t>
            </a:r>
            <a:endParaRPr lang="en-US" sz="1800" dirty="0"/>
          </a:p>
        </p:txBody>
      </p:sp>
      <p:sp>
        <p:nvSpPr>
          <p:cNvPr id="16" name="Blue Team"/>
          <p:cNvSpPr/>
          <p:nvPr/>
        </p:nvSpPr>
        <p:spPr>
          <a:xfrm>
            <a:off x="548640" y="4434840"/>
            <a:ext cx="11091672" cy="1600200"/>
          </a:xfrm>
          <a:prstGeom prst="roundRect">
            <a:avLst>
              <a:gd name="adj" fmla="val 685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círculo shield"/>
          <p:cNvSpPr/>
          <p:nvPr/>
        </p:nvSpPr>
        <p:spPr>
          <a:xfrm>
            <a:off x="822960" y="470916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Image 0" descr="shie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4850892"/>
            <a:ext cx="283464" cy="283464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554480" y="46817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Blue Team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1554480" y="5029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Equipo de defensa y respuesta</a:t>
            </a:r>
            <a:endParaRPr lang="en-US" sz="1300" dirty="0"/>
          </a:p>
        </p:txBody>
      </p:sp>
      <p:sp>
        <p:nvSpPr>
          <p:cNvPr id="21" name="miembro Richard Drayre"/>
          <p:cNvSpPr/>
          <p:nvPr/>
        </p:nvSpPr>
        <p:spPr>
          <a:xfrm>
            <a:off x="1554480" y="5486400"/>
            <a:ext cx="2286000" cy="411480"/>
          </a:xfrm>
          <a:prstGeom prst="roundRect">
            <a:avLst>
              <a:gd name="adj" fmla="val 48889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554480" y="5486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Richard Drayre</a:t>
            </a:r>
            <a:endParaRPr lang="en-US" sz="1400" dirty="0"/>
          </a:p>
        </p:txBody>
      </p:sp>
      <p:sp>
        <p:nvSpPr>
          <p:cNvPr id="23" name="miembro Juan Sebastian Velez"/>
          <p:cNvSpPr/>
          <p:nvPr/>
        </p:nvSpPr>
        <p:spPr>
          <a:xfrm>
            <a:off x="4023360" y="5486400"/>
            <a:ext cx="2286000" cy="411480"/>
          </a:xfrm>
          <a:prstGeom prst="roundRect">
            <a:avLst>
              <a:gd name="adj" fmla="val 48889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023360" y="5486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Juan Sebastian Velez</a:t>
            </a:r>
            <a:endParaRPr lang="en-US" sz="1400" dirty="0"/>
          </a:p>
        </p:txBody>
      </p:sp>
      <p:sp>
        <p:nvSpPr>
          <p:cNvPr id="25" name="miembro Sebastian Castrillon"/>
          <p:cNvSpPr/>
          <p:nvPr/>
        </p:nvSpPr>
        <p:spPr>
          <a:xfrm>
            <a:off x="6492240" y="5486400"/>
            <a:ext cx="2286000" cy="411480"/>
          </a:xfrm>
          <a:prstGeom prst="roundRect">
            <a:avLst>
              <a:gd name="adj" fmla="val 48889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92240" y="5486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Sebastian Castrillon</a:t>
            </a:r>
            <a:endParaRPr lang="en-US" sz="1400" dirty="0"/>
          </a:p>
        </p:txBody>
      </p:sp>
      <p:sp>
        <p:nvSpPr>
          <p:cNvPr id="27" name="miembro Jorge Osorio"/>
          <p:cNvSpPr/>
          <p:nvPr/>
        </p:nvSpPr>
        <p:spPr>
          <a:xfrm>
            <a:off x="8961120" y="5486400"/>
            <a:ext cx="2286000" cy="411480"/>
          </a:xfrm>
          <a:prstGeom prst="roundRect">
            <a:avLst>
              <a:gd name="adj" fmla="val 48889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961120" y="5486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Jorge Osorio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27648"/>
            <a:ext cx="320040" cy="28346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Condiciones del servicio</a:t>
            </a:r>
            <a:endParaRPr lang="en-US" sz="3200" dirty="0"/>
          </a:p>
        </p:txBody>
      </p:sp>
      <p:sp>
        <p:nvSpPr>
          <p:cNvPr id="3" name="condición Facturación mensual"/>
          <p:cNvSpPr/>
          <p:nvPr/>
        </p:nvSpPr>
        <p:spPr>
          <a:xfrm>
            <a:off x="548640" y="1417320"/>
            <a:ext cx="353872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írculo invoice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invoi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288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Facturación mensual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43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Excluida de IVA por ser servicio de computación en la nube</a:t>
            </a:r>
            <a:endParaRPr lang="en-US" sz="1400" dirty="0"/>
          </a:p>
        </p:txBody>
      </p:sp>
      <p:sp>
        <p:nvSpPr>
          <p:cNvPr id="8" name="condición Plazo del contrato"/>
          <p:cNvSpPr/>
          <p:nvPr/>
        </p:nvSpPr>
        <p:spPr>
          <a:xfrm>
            <a:off x="4325112" y="1417320"/>
            <a:ext cx="353872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írculo cal"/>
          <p:cNvSpPr/>
          <p:nvPr/>
        </p:nvSpPr>
        <p:spPr>
          <a:xfrm>
            <a:off x="4599432" y="16916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c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18288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99432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Plazo del contrato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599432" y="2743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12, 24 o 36 meses</a:t>
            </a:r>
            <a:endParaRPr lang="en-US" sz="1400" dirty="0"/>
          </a:p>
        </p:txBody>
      </p:sp>
      <p:sp>
        <p:nvSpPr>
          <p:cNvPr id="13" name="condición Retención de 12 meses"/>
          <p:cNvSpPr/>
          <p:nvPr/>
        </p:nvSpPr>
        <p:spPr>
          <a:xfrm>
            <a:off x="8101584" y="1417320"/>
            <a:ext cx="353872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írculo archive"/>
          <p:cNvSpPr/>
          <p:nvPr/>
        </p:nvSpPr>
        <p:spPr>
          <a:xfrm>
            <a:off x="8375904" y="16916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archi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4" y="182880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75904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Retención de 12 meses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375904" y="2743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 mes en línea y 11 meses archivados, incluidos en el plan</a:t>
            </a:r>
            <a:endParaRPr lang="en-US" sz="1400" dirty="0"/>
          </a:p>
        </p:txBody>
      </p:sp>
      <p:sp>
        <p:nvSpPr>
          <p:cNvPr id="18" name="condición Licencias de vulnerabilidades"/>
          <p:cNvSpPr/>
          <p:nvPr/>
        </p:nvSpPr>
        <p:spPr>
          <a:xfrm>
            <a:off x="548640" y="3703320"/>
            <a:ext cx="353872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írculo key"/>
          <p:cNvSpPr/>
          <p:nvPr/>
        </p:nvSpPr>
        <p:spPr>
          <a:xfrm>
            <a:off x="822960" y="39776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Image 3" descr="ke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11480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" y="4663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Licencias de vulnerabilidades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029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La sonda OT o la consola de vulnerabilidades las aporta el cliente</a:t>
            </a:r>
            <a:endParaRPr lang="en-US" sz="1400" dirty="0"/>
          </a:p>
        </p:txBody>
      </p:sp>
      <p:sp>
        <p:nvSpPr>
          <p:cNvPr id="23" name="condición Colector"/>
          <p:cNvSpPr/>
          <p:nvPr/>
        </p:nvSpPr>
        <p:spPr>
          <a:xfrm>
            <a:off x="4325112" y="3703320"/>
            <a:ext cx="353872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círculo server"/>
          <p:cNvSpPr/>
          <p:nvPr/>
        </p:nvSpPr>
        <p:spPr>
          <a:xfrm>
            <a:off x="4599432" y="39776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Image 4" descr="serv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411480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599432" y="4663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Colector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4599432" y="5029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Sin costo si el cliente aporta la VM o el servidor</a:t>
            </a:r>
            <a:endParaRPr lang="en-US" sz="1400" dirty="0"/>
          </a:p>
        </p:txBody>
      </p:sp>
      <p:sp>
        <p:nvSpPr>
          <p:cNvPr id="28" name="condición Dispositivo/consola fuente"/>
          <p:cNvSpPr/>
          <p:nvPr/>
        </p:nvSpPr>
        <p:spPr>
          <a:xfrm>
            <a:off x="8101584" y="3703320"/>
            <a:ext cx="353872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círculo net"/>
          <p:cNvSpPr/>
          <p:nvPr/>
        </p:nvSpPr>
        <p:spPr>
          <a:xfrm>
            <a:off x="8375904" y="39776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Image 5" descr="ne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3064" y="411480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375904" y="4663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Dispositivo/consola fuente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8375904" y="5029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Fuente de logs integrada a FortiSIEM: firewall, switch, servidor, consola EDR o de gestión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27648"/>
            <a:ext cx="320040" cy="28346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7315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Siguiente paso: una propuesta a la medida</a:t>
            </a:r>
            <a:endParaRPr lang="en-US" sz="4000" dirty="0"/>
          </a:p>
        </p:txBody>
      </p:sp>
      <p:sp>
        <p:nvSpPr>
          <p:cNvPr id="3" name="paso 1"/>
          <p:cNvSpPr/>
          <p:nvPr/>
        </p:nvSpPr>
        <p:spPr>
          <a:xfrm>
            <a:off x="731520" y="22860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337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Inventario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840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Revisamos sus fuentes de logs y sedes</a:t>
            </a:r>
            <a:endParaRPr lang="en-US" sz="1600" dirty="0"/>
          </a:p>
        </p:txBody>
      </p:sp>
      <p:sp>
        <p:nvSpPr>
          <p:cNvPr id="7" name="paso 2"/>
          <p:cNvSpPr/>
          <p:nvPr/>
        </p:nvSpPr>
        <p:spPr>
          <a:xfrm>
            <a:off x="4389120" y="22860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8912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3337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Propuesta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3840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Plan, complementos y colectores para su operación</a:t>
            </a:r>
            <a:endParaRPr lang="en-US" sz="1600" dirty="0"/>
          </a:p>
        </p:txBody>
      </p:sp>
      <p:sp>
        <p:nvSpPr>
          <p:cNvPr id="11" name="paso 3"/>
          <p:cNvSpPr/>
          <p:nvPr/>
        </p:nvSpPr>
        <p:spPr>
          <a:xfrm>
            <a:off x="8046720" y="22860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3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3337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Puesta en marcha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0" y="3840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Integración de fuentes y arranque del monitoreo</a:t>
            </a:r>
            <a:endParaRPr lang="en-US" sz="1600" dirty="0"/>
          </a:p>
        </p:txBody>
      </p:sp>
      <p:sp>
        <p:nvSpPr>
          <p:cNvPr id="15" name="fondo logo cierre"/>
          <p:cNvSpPr/>
          <p:nvPr/>
        </p:nvSpPr>
        <p:spPr>
          <a:xfrm>
            <a:off x="731520" y="5257800"/>
            <a:ext cx="265176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6" name="Image 0" descr="Logo Netmas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440680"/>
            <a:ext cx="2011680" cy="46268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3840480" y="5440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Servicio Netmask operado sobre FortiSIEM® MSSP. FortiSIEM y FortiGuard son marcas registradas de Fortinet, Inc.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tmask SOC">
  <a:themeElements>
    <a:clrScheme name="Netmask SOC">
      <a:dk1>
        <a:srgbClr val="0A243F"/>
      </a:dk1>
      <a:lt1>
        <a:srgbClr val="FFFFFF"/>
      </a:lt1>
      <a:dk2>
        <a:srgbClr val="2C3E4D"/>
      </a:dk2>
      <a:lt2>
        <a:srgbClr val="F4F6F8"/>
      </a:lt2>
      <a:accent1>
        <a:srgbClr val="00AFF4"/>
      </a:accent1>
      <a:accent2>
        <a:srgbClr val="0079B0"/>
      </a:accent2>
      <a:accent3>
        <a:srgbClr val="DA291C"/>
      </a:accent3>
      <a:accent4>
        <a:srgbClr val="17784A"/>
      </a:accent4>
      <a:accent5>
        <a:srgbClr val="607080"/>
      </a:accent5>
      <a:accent6>
        <a:srgbClr val="E3F5FD"/>
      </a:accent6>
      <a:hlink>
        <a:srgbClr val="0079B0"/>
      </a:hlink>
      <a:folHlink>
        <a:srgbClr val="607080"/>
      </a:folHlink>
    </a:clrScheme>
    <a:fontScheme name="Netmask SOC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Netmask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 Netmask — Ficha del servicio</dc:title>
  <dc:subject>PptxGenJS Presentation</dc:subject>
  <dc:creator>Netmask</dc:creator>
  <cp:lastModifiedBy>Netmask</cp:lastModifiedBy>
  <cp:revision>1</cp:revision>
  <dcterms:created xsi:type="dcterms:W3CDTF">2026-10-28T12:41:04Z</dcterms:created>
  <dcterms:modified xsi:type="dcterms:W3CDTF">2026-10-28T12:41:04Z</dcterms:modified>
</cp:coreProperties>
</file>